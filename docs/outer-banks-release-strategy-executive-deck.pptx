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50" b="0" i="0" u="none" strike="noStrike">
                <a:solidFill>
                  <a:srgbClr val="7D7669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7D7669"/>
                </a:solidFill>
                <a:latin typeface="Calibri"/>
              </a:rPr>
              <a:t>Churn saved, by the day a subscriber renews (two-part release)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Reduction in cancellations</c:v>
                </c:pt>
              </c:strCache>
            </c:strRef>
          </c:tx>
          <c:spPr>
            <a:solidFill>
              <a:srgbClr val="0A7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day 1</c:v>
                  </c:pt>
                  <c:pt idx="1">
                    <c:v>day 4</c:v>
                  </c:pt>
                  <c:pt idx="2">
                    <c:v>day 7</c:v>
                  </c:pt>
                  <c:pt idx="3">
                    <c:v>day 10</c:v>
                  </c:pt>
                  <c:pt idx="4">
                    <c:v>day 13</c:v>
                  </c:pt>
                  <c:pt idx="5">
                    <c:v>day 16</c:v>
                  </c:pt>
                  <c:pt idx="6">
                    <c:v>day 19</c:v>
                  </c:pt>
                  <c:pt idx="7">
                    <c:v>day 22</c:v>
                  </c:pt>
                  <c:pt idx="8">
                    <c:v>day 25</c:v>
                  </c:pt>
                  <c:pt idx="9">
                    <c:v>day 28</c:v>
                  </c:pt>
                  <c:pt idx="10">
                    <c:v>day 31</c:v>
                  </c:pt>
                  <c:pt idx="11">
                    <c:v>day 34</c:v>
                  </c:pt>
                  <c:pt idx="12">
                    <c:v>day 37</c:v>
                  </c:pt>
                  <c:pt idx="13">
                    <c:v>day 40</c:v>
                  </c:pt>
                  <c:pt idx="14">
                    <c:v>day 43</c:v>
                  </c:pt>
                  <c:pt idx="15">
                    <c:v>day 46</c:v>
                  </c:pt>
                  <c:pt idx="16">
                    <c:v>day 49</c:v>
                  </c:pt>
                  <c:pt idx="17">
                    <c:v>day 52</c:v>
                  </c:pt>
                  <c:pt idx="18">
                    <c:v>day 55</c:v>
                  </c:pt>
                  <c:pt idx="19">
                    <c:v>day 58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2.3</c:v>
                </c:pt>
                <c:pt idx="1">
                  <c:v>5.7</c:v>
                </c:pt>
                <c:pt idx="2">
                  <c:v>4.8</c:v>
                </c:pt>
                <c:pt idx="3">
                  <c:v>7</c:v>
                </c:pt>
                <c:pt idx="4">
                  <c:v>5.1</c:v>
                </c:pt>
                <c:pt idx="5">
                  <c:v>5.8</c:v>
                </c:pt>
                <c:pt idx="6">
                  <c:v>4.7</c:v>
                </c:pt>
                <c:pt idx="7">
                  <c:v>5.2</c:v>
                </c:pt>
                <c:pt idx="8">
                  <c:v>3.6</c:v>
                </c:pt>
                <c:pt idx="9">
                  <c:v>4.6</c:v>
                </c:pt>
                <c:pt idx="10">
                  <c:v>3.4</c:v>
                </c:pt>
                <c:pt idx="11">
                  <c:v>5.9</c:v>
                </c:pt>
                <c:pt idx="12">
                  <c:v>7.6</c:v>
                </c:pt>
                <c:pt idx="13">
                  <c:v>9.7</c:v>
                </c:pt>
                <c:pt idx="14">
                  <c:v>9.6</c:v>
                </c:pt>
                <c:pt idx="15">
                  <c:v>9.3</c:v>
                </c:pt>
                <c:pt idx="16">
                  <c:v>6.7</c:v>
                </c:pt>
                <c:pt idx="17">
                  <c:v>7.5</c:v>
                </c:pt>
                <c:pt idx="18">
                  <c:v>6.3</c:v>
                </c:pt>
                <c:pt idx="19">
                  <c:v>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18000000"/>
          <a:lstStyle/>
          <a:p>
            <a:pPr>
              <a:defRPr sz="900" b="0" i="0" u="none" strike="noStrike">
                <a:solidFill>
                  <a:srgbClr val="7D76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12700" cap="flat">
              <a:solidFill>
                <a:srgbClr val="E8DEC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D76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solidFill>
          <a:srgbClr val="FFF7E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50" b="0" i="0" u="none" strike="noStrike">
                <a:solidFill>
                  <a:srgbClr val="7D7669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7D7669"/>
                </a:solidFill>
                <a:latin typeface="Calibri"/>
              </a:rPr>
              <a:t>Value by release pattern ($M, before marketing)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from acquisition</c:v>
                </c:pt>
              </c:strCache>
            </c:strRef>
          </c:tx>
          <c:spPr>
            <a:solidFill>
              <a:srgbClr val="E267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4C55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All at once</c:v>
                  </c:pt>
                  <c:pt idx="1">
                    <c:v>Two parts</c:v>
                  </c:pt>
                  <c:pt idx="2">
                    <c:v>Three parts</c:v>
                  </c:pt>
                  <c:pt idx="3">
                    <c:v>Premiere + weekly</c:v>
                  </c:pt>
                  <c:pt idx="4">
                    <c:v>Weekly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18.2</c:v>
                </c:pt>
                <c:pt idx="1">
                  <c:v>17.8</c:v>
                </c:pt>
                <c:pt idx="2">
                  <c:v>16.2</c:v>
                </c:pt>
                <c:pt idx="3">
                  <c:v>15.5</c:v>
                </c:pt>
                <c:pt idx="4">
                  <c:v>13.4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 from retention</c:v>
                </c:pt>
              </c:strCache>
            </c:strRef>
          </c:tx>
          <c:spPr>
            <a:solidFill>
              <a:srgbClr val="0A709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4C55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All at once</c:v>
                  </c:pt>
                  <c:pt idx="1">
                    <c:v>Two parts</c:v>
                  </c:pt>
                  <c:pt idx="2">
                    <c:v>Three parts</c:v>
                  </c:pt>
                  <c:pt idx="3">
                    <c:v>Premiere + weekly</c:v>
                  </c:pt>
                  <c:pt idx="4">
                    <c:v>Weekly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23.7</c:v>
                </c:pt>
                <c:pt idx="1">
                  <c:v>25.2</c:v>
                </c:pt>
                <c:pt idx="2">
                  <c:v>24.9</c:v>
                </c:pt>
                <c:pt idx="3">
                  <c:v>26.4</c:v>
                </c:pt>
                <c:pt idx="4">
                  <c:v>24.8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4C556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C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0"/>
        <c:axPos val="l"/>
        <c:majorGridlines>
          <c:spPr>
            <a:ln w="12700" cap="flat">
              <a:solidFill>
                <a:srgbClr val="E8DE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D76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7E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C556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release pattern is one of the few levers left on a season whose cost is already sunk. This deck is the decision, not a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this is a free lever on a sunk-cost asset, and the industry argument is really two different objective functions talking past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model in one chart: coverage, and the gap between parts where coverage collapses.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Acquisition and retention disagree because they respond to opposite properties of the same schedule. The winner is whichever pattern gives up least on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oversell this. The honest headline is that the top three are tied on money, so the decision rule — pre-committed — hands it to the option that generates a clean internal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measurement design is the cheapest part of the whole recommendation — the control group already exists and costs nothing to define.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160520"/>
            <a:ext cx="3291840" cy="3291840"/>
          </a:xfrm>
          <a:prstGeom prst="ellipse">
            <a:avLst/>
          </a:prstGeom>
          <a:solidFill>
            <a:srgbClr val="6E2E1C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892040"/>
            <a:ext cx="1828800" cy="1828800"/>
          </a:xfrm>
          <a:prstGeom prst="ellipse">
            <a:avLst/>
          </a:prstGeom>
          <a:solidFill>
            <a:srgbClr val="B8551F"/>
          </a:solidFill>
          <a:ln/>
        </p:spPr>
      </p:sp>
      <p:sp>
        <p:nvSpPr>
          <p:cNvPr id="4" name="Shape 2"/>
          <p:cNvSpPr/>
          <p:nvPr/>
        </p:nvSpPr>
        <p:spPr>
          <a:xfrm>
            <a:off x="10469880" y="5303520"/>
            <a:ext cx="1005840" cy="1005840"/>
          </a:xfrm>
          <a:prstGeom prst="ellipse">
            <a:avLst/>
          </a:prstGeom>
          <a:solidFill>
            <a:srgbClr val="F0B93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140A1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F0B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STRATEGY · OUTER BANKS SEASON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 billing dates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release pattern is actually worth — and why the winner wins by less than it looks.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D7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simulation · </a:t>
            </a:r>
            <a:pPr indent="0" marL="0">
              <a:buNone/>
            </a:pPr>
            <a:r>
              <a:rPr lang="en-US" sz="1350" b="1" dirty="0">
                <a:solidFill>
                  <a:srgbClr val="D8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 households × 182 days × 5 release patterns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D7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Netflix data exists for this. Every behavioural input is a stated assumption.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Payton Nguyen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C08A2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0A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15568" y="9692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about season five is already sunk. The drop schedule is not.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70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255117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7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episodes, as in every prior season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47288" y="187452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70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47288" y="255117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7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patterns on the table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27648" y="187452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6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$28M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27648" y="255117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7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line behind the launch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08008" y="187452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8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208008" y="255117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7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dates a release has to cover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70332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8DE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319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7D7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interesting decision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2976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cast, the scripts and the production budget are spent.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4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costs nothing to change and still moves the P&amp;L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makes it one of the last free levers on the season. It is also genuinely contested: the binge camp and the weekly camp are each optimising a different metric, and mostly not saying which.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C08A2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0A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15568" y="9692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only cancel on their renewal date — so a release can only reach the ones it lands near.</a:t>
            </a:r>
            <a:endParaRPr lang="en-US" sz="15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828800"/>
          <a:ext cx="74523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75320" y="1828800"/>
            <a:ext cx="3364992" cy="39776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8DE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77072" y="2103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0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Roughly 1 in 30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577072" y="254203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stands at a renewal decision on any given day. Everyone else can be delighted, but not billed differently for it.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77072" y="3794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7D7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hole is the point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77072" y="41605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lands on day 0 and has faded by day 26. Part 2 arrives on day 35. Anyone billed in between gets the weakest version of the season — and no pattern covers all thirty dates.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C08A2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0A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15568" y="9692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objectives rank the five patterns in opposite orders. That is the decision, not a detail.</a:t>
            </a:r>
            <a:endParaRPr lang="en-US" sz="15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828800"/>
          <a:ext cx="69037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828800"/>
            <a:ext cx="391363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8DEC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73568" y="2066544"/>
            <a:ext cx="182880" cy="182880"/>
          </a:xfrm>
          <a:prstGeom prst="ellipse">
            <a:avLst/>
          </a:prstGeom>
          <a:solidFill>
            <a:srgbClr val="E2673A"/>
          </a:solidFill>
          <a:ln/>
        </p:spPr>
      </p:sp>
      <p:sp>
        <p:nvSpPr>
          <p:cNvPr id="9" name="Text 6"/>
          <p:cNvSpPr/>
          <p:nvPr/>
        </p:nvSpPr>
        <p:spPr>
          <a:xfrm>
            <a:off x="8247888" y="19751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buys signups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973568" y="23317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crowded opening week is what earns the Top 10 slot and the press cycle. All at once leads acquisition at $18.2M.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26680" y="3200400"/>
            <a:ext cx="391363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8DEC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73568" y="3438144"/>
            <a:ext cx="182880" cy="182880"/>
          </a:xfrm>
          <a:prstGeom prst="ellipse">
            <a:avLst/>
          </a:prstGeom>
          <a:solidFill>
            <a:srgbClr val="0A7096"/>
          </a:solidFill>
          <a:ln/>
        </p:spPr>
      </p:sp>
      <p:sp>
        <p:nvSpPr>
          <p:cNvPr id="13" name="Text 10"/>
          <p:cNvSpPr/>
          <p:nvPr/>
        </p:nvSpPr>
        <p:spPr>
          <a:xfrm>
            <a:off x="8247888" y="33467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buys renewals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973568" y="37033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dates are spread across the month, so a single spike can only sit near some of them. Premiere + weekly leads retention at $26.4M.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26680" y="4572000"/>
            <a:ext cx="391363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8DEC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73568" y="4809744"/>
            <a:ext cx="182880" cy="182880"/>
          </a:xfrm>
          <a:prstGeom prst="ellipse">
            <a:avLst/>
          </a:prstGeom>
          <a:solidFill>
            <a:srgbClr val="C08A22"/>
          </a:solidFill>
          <a:ln/>
        </p:spPr>
      </p:sp>
      <p:sp>
        <p:nvSpPr>
          <p:cNvPr id="17" name="Text 14"/>
          <p:cNvSpPr/>
          <p:nvPr/>
        </p:nvSpPr>
        <p:spPr>
          <a:xfrm>
            <a:off x="8247888" y="47183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reach barely moves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973568" y="50749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pattern reaches about the same 38.4% of the base. The schedule changes what happens after episode one, not who shows up.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F0B93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15568" y="9692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in two parts — and do not pretend the money decided it.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5532120" cy="3977640"/>
          </a:xfrm>
          <a:prstGeom prst="roundRect">
            <a:avLst>
              <a:gd name="adj" fmla="val 2299"/>
            </a:avLst>
          </a:prstGeom>
          <a:solidFill>
            <a:srgbClr val="3A1720"/>
          </a:solidFill>
          <a:ln w="12700">
            <a:solidFill>
              <a:srgbClr val="5A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parts, 5 + 5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0B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$15.0M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contribution — retention plus acquisition, less the marketing line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$25.2M retention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2.62M subscriber-months held against a window with no Outer Banks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$17.8M acquisition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0.55M signups, 78% still subscribed after one renewal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239512" cy="1874520"/>
          </a:xfrm>
          <a:prstGeom prst="roundRect">
            <a:avLst>
              <a:gd name="adj" fmla="val 4878"/>
            </a:avLst>
          </a:prstGeom>
          <a:solidFill>
            <a:srgbClr val="4A2418"/>
          </a:solidFill>
          <a:ln w="12700">
            <a:solidFill>
              <a:srgbClr val="6E3A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0482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B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 is inside the noise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20840" y="2450592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leads by $1.09M against a $28M marketing line, and wins 7 of 8 independent audience draws by a paired mean of $0.62M. Three assumptions, none of them measured, flip the ranking outright.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3931920"/>
            <a:ext cx="5239512" cy="1874520"/>
          </a:xfrm>
          <a:prstGeom prst="roundRect">
            <a:avLst>
              <a:gd name="adj" fmla="val 4878"/>
            </a:avLst>
          </a:prstGeom>
          <a:solidFill>
            <a:srgbClr val="3A1720"/>
          </a:solidFill>
          <a:ln w="12700">
            <a:solidFill>
              <a:srgbClr val="5A2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41513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B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tie breaks on evidence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720840" y="4553712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0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fixed before the model ran: under a $2M margin, take the option that produces the most evidence for next season. A two-part release is the only one that measures the same audience on the same season twice, five weeks apart.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C08A2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0A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would know it worked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15568" y="9692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is free: half the base renews outside the release window and forms its own control.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112264"/>
            <a:ext cx="237744" cy="237744"/>
          </a:xfrm>
          <a:prstGeom prst="ellipse">
            <a:avLst/>
          </a:prstGeom>
          <a:solidFill>
            <a:srgbClr val="0A7096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19110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11880" y="191109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Subscriber-months retained per thousand viewers reached, split by whether the renewal date fell inside or outside the release window.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816352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E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145536"/>
            <a:ext cx="237744" cy="237744"/>
          </a:xfrm>
          <a:prstGeom prst="ellipse">
            <a:avLst/>
          </a:prstGeom>
          <a:solidFill>
            <a:srgbClr val="1E7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207008" y="29443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11880" y="294436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inside-window group retains at least 4 percentage points better than the outside-window group.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849624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E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178808"/>
            <a:ext cx="237744" cy="23774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39776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criterion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11880" y="39776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1.5 points, the coverage mechanism this model rests on does not exist. Hand release patterning back to marketing as a pure awareness call.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4882896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E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5212080"/>
            <a:ext cx="237744" cy="237744"/>
          </a:xfrm>
          <a:prstGeom prst="ellipse">
            <a:avLst/>
          </a:prstGeom>
          <a:solidFill>
            <a:srgbClr val="C08A22"/>
          </a:solidFill>
          <a:ln/>
        </p:spPr>
      </p:sp>
      <p:sp>
        <p:nvSpPr>
          <p:cNvPr id="20" name="Text 18"/>
          <p:cNvSpPr/>
          <p:nvPr/>
        </p:nvSpPr>
        <p:spPr>
          <a:xfrm>
            <a:off x="1207008" y="50109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0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Counter-metric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11880" y="501091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Thirty-day retention of the acquisition cohort. A pattern that maximises signups by concentrating them delivers them all to the same first renewal with nothing left to watch.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053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7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model · paytonnguyen-creator.github.io/outer-banks-release-strategy.html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Outer Banks S5 — release strategy</dc:title>
  <dc:subject>PptxGenJS Presentation</dc:subject>
  <dc:creator>Payton Nguyen</dc:creator>
  <cp:lastModifiedBy>Payton Nguyen</cp:lastModifiedBy>
  <cp:revision>1</cp:revision>
  <dcterms:created xsi:type="dcterms:W3CDTF">2026-08-19T03:47:25Z</dcterms:created>
  <dcterms:modified xsi:type="dcterms:W3CDTF">2026-08-19T03:47:25Z</dcterms:modified>
</cp:coreProperties>
</file>